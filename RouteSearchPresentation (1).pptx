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26" Type="http://schemas.openxmlformats.org/officeDocument/2006/relationships/font" Target="fonts/PoppinsSemiBold-regular.fntdata"/><Relationship Id="rId25" Type="http://schemas.openxmlformats.org/officeDocument/2006/relationships/font" Target="fonts/Urbanist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29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69a2a19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a69a2a19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69a2a19f5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a69a2a19f5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69a2a19f5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a69a2a19f5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a69a2a19f5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a69a2a19f5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69a2a19f5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69a2a19f5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69a2a19f5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69a2a19f5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69a2a19f5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a69a2a19f5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://lucidchart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://lucidchar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2907825" y="837725"/>
            <a:ext cx="61062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Route Search System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Design &amp; </a:t>
            </a: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b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Presentation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66"/>
          <p:cNvSpPr txBox="1"/>
          <p:nvPr/>
        </p:nvSpPr>
        <p:spPr>
          <a:xfrm>
            <a:off x="7489725" y="37950"/>
            <a:ext cx="15867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CSCE 2110.501 (13359)</a:t>
            </a:r>
            <a:b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Zion Welsh</a:t>
            </a:r>
            <a:b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 Wu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Caleb Layfield</a:t>
            </a:r>
            <a:b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>
            <p:ph idx="1" type="subTitle"/>
          </p:nvPr>
        </p:nvSpPr>
        <p:spPr>
          <a:xfrm>
            <a:off x="204475" y="1754175"/>
            <a:ext cx="4655400" cy="3103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Purpose: Graph based flight route system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Cities = nodes, flights = edges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Supports BFS, DFS, multistop routing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Our Chosen design: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–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Adjacency list graph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–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Hash map city indexing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–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State based parsing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67"/>
          <p:cNvSpPr txBox="1"/>
          <p:nvPr>
            <p:ph type="title"/>
          </p:nvPr>
        </p:nvSpPr>
        <p:spPr>
          <a:xfrm>
            <a:off x="204475" y="286200"/>
            <a:ext cx="7178400" cy="115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Project overview and Key Designs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150" y="152400"/>
            <a:ext cx="4254820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8"/>
          <p:cNvSpPr txBox="1"/>
          <p:nvPr/>
        </p:nvSpPr>
        <p:spPr>
          <a:xfrm>
            <a:off x="64150" y="656450"/>
            <a:ext cx="47490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Flowchart: Input Parsing</a:t>
            </a:r>
            <a:endParaRPr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68"/>
          <p:cNvSpPr txBox="1"/>
          <p:nvPr/>
        </p:nvSpPr>
        <p:spPr>
          <a:xfrm>
            <a:off x="188975" y="2053825"/>
            <a:ext cx="4383000" cy="27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the flexible From/To format</a:t>
            </a:r>
            <a:b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trimming + state switching</a:t>
            </a:r>
            <a:b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graph during parsing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68"/>
          <p:cNvSpPr txBox="1"/>
          <p:nvPr/>
        </p:nvSpPr>
        <p:spPr>
          <a:xfrm>
            <a:off x="616875" y="4799425"/>
            <a:ext cx="41469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Flow charts were made via: </a:t>
            </a:r>
            <a:r>
              <a:rPr lang="en" sz="1100" u="sng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4"/>
              </a:rPr>
              <a:t>lucidchart.com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9"/>
          <p:cNvSpPr txBox="1"/>
          <p:nvPr>
            <p:ph idx="1" type="subTitle"/>
          </p:nvPr>
        </p:nvSpPr>
        <p:spPr>
          <a:xfrm>
            <a:off x="5296354" y="1368300"/>
            <a:ext cx="36471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vector&lt;string&gt; names</a:t>
            </a:r>
            <a:endParaRPr/>
          </a:p>
        </p:txBody>
      </p:sp>
      <p:sp>
        <p:nvSpPr>
          <p:cNvPr id="639" name="Google Shape;639;p69"/>
          <p:cNvSpPr txBox="1"/>
          <p:nvPr>
            <p:ph idx="3" type="subTitle"/>
          </p:nvPr>
        </p:nvSpPr>
        <p:spPr>
          <a:xfrm>
            <a:off x="5296350" y="2131775"/>
            <a:ext cx="38478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unordered_map&lt;string,int&gt; idx</a:t>
            </a:r>
            <a:endParaRPr/>
          </a:p>
        </p:txBody>
      </p:sp>
      <p:sp>
        <p:nvSpPr>
          <p:cNvPr id="640" name="Google Shape;640;p69"/>
          <p:cNvSpPr txBox="1"/>
          <p:nvPr>
            <p:ph idx="5" type="subTitle"/>
          </p:nvPr>
        </p:nvSpPr>
        <p:spPr>
          <a:xfrm>
            <a:off x="5296354" y="2900578"/>
            <a:ext cx="36471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Vector&lt;vector&lt;int&gt;&gt; adj</a:t>
            </a:r>
            <a:endParaRPr/>
          </a:p>
        </p:txBody>
      </p:sp>
      <p:sp>
        <p:nvSpPr>
          <p:cNvPr id="641" name="Google Shape;641;p69"/>
          <p:cNvSpPr txBox="1"/>
          <p:nvPr>
            <p:ph idx="7" type="subTitle"/>
          </p:nvPr>
        </p:nvSpPr>
        <p:spPr>
          <a:xfrm>
            <a:off x="5296354" y="3664041"/>
            <a:ext cx="3647100" cy="461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Country grouping</a:t>
            </a:r>
            <a:endParaRPr/>
          </a:p>
        </p:txBody>
      </p:sp>
      <p:sp>
        <p:nvSpPr>
          <p:cNvPr id="642" name="Google Shape;642;p69"/>
          <p:cNvSpPr txBox="1"/>
          <p:nvPr/>
        </p:nvSpPr>
        <p:spPr>
          <a:xfrm>
            <a:off x="4375350" y="2132151"/>
            <a:ext cx="55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3" name="Google Shape;643;p69"/>
          <p:cNvSpPr txBox="1"/>
          <p:nvPr/>
        </p:nvSpPr>
        <p:spPr>
          <a:xfrm>
            <a:off x="4375350" y="1374240"/>
            <a:ext cx="55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4" name="Google Shape;644;p69"/>
          <p:cNvSpPr txBox="1"/>
          <p:nvPr/>
        </p:nvSpPr>
        <p:spPr>
          <a:xfrm>
            <a:off x="4375350" y="2912602"/>
            <a:ext cx="55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5" name="Google Shape;645;p69"/>
          <p:cNvSpPr txBox="1"/>
          <p:nvPr/>
        </p:nvSpPr>
        <p:spPr>
          <a:xfrm>
            <a:off x="4375350" y="3655424"/>
            <a:ext cx="55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04</a:t>
            </a: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6" name="Google Shape;646;p69"/>
          <p:cNvSpPr txBox="1"/>
          <p:nvPr>
            <p:ph type="title"/>
          </p:nvPr>
        </p:nvSpPr>
        <p:spPr>
          <a:xfrm>
            <a:off x="1368850" y="145120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6001" y="347025"/>
            <a:ext cx="5140524" cy="4449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70"/>
          <p:cNvSpPr txBox="1"/>
          <p:nvPr/>
        </p:nvSpPr>
        <p:spPr>
          <a:xfrm>
            <a:off x="99850" y="702000"/>
            <a:ext cx="37527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and flowchart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70"/>
          <p:cNvSpPr txBox="1"/>
          <p:nvPr/>
        </p:nvSpPr>
        <p:spPr>
          <a:xfrm>
            <a:off x="0" y="1715100"/>
            <a:ext cx="38526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         shortest routes (this is the core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algorithm)</a:t>
            </a: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         reachability tour</a:t>
            </a: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BFS        routing through B and C</a:t>
            </a: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Q4      best meeting city using sum of BFS distances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70"/>
          <p:cNvSpPr/>
          <p:nvPr/>
        </p:nvSpPr>
        <p:spPr>
          <a:xfrm>
            <a:off x="768400" y="2951075"/>
            <a:ext cx="178200" cy="11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5" name="Google Shape;655;p70"/>
          <p:cNvSpPr/>
          <p:nvPr/>
        </p:nvSpPr>
        <p:spPr>
          <a:xfrm>
            <a:off x="1268450" y="2571750"/>
            <a:ext cx="178200" cy="11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6" name="Google Shape;656;p70"/>
          <p:cNvSpPr/>
          <p:nvPr/>
        </p:nvSpPr>
        <p:spPr>
          <a:xfrm>
            <a:off x="946600" y="2230750"/>
            <a:ext cx="178200" cy="11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7" name="Google Shape;657;p70"/>
          <p:cNvSpPr/>
          <p:nvPr/>
        </p:nvSpPr>
        <p:spPr>
          <a:xfrm>
            <a:off x="946600" y="1822175"/>
            <a:ext cx="178200" cy="11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8" name="Google Shape;658;p70"/>
          <p:cNvSpPr txBox="1"/>
          <p:nvPr/>
        </p:nvSpPr>
        <p:spPr>
          <a:xfrm>
            <a:off x="4920650" y="47964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Flow charts were made via: </a:t>
            </a:r>
            <a:r>
              <a:rPr lang="en" sz="1100" u="sng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lucidchart.com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1"/>
          <p:cNvSpPr/>
          <p:nvPr/>
        </p:nvSpPr>
        <p:spPr>
          <a:xfrm flipH="1">
            <a:off x="20" y="2692072"/>
            <a:ext cx="17094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4" name="Google Shape;664;p71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5" name="Google Shape;665;p71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6" name="Google Shape;666;p71"/>
          <p:cNvSpPr txBox="1"/>
          <p:nvPr>
            <p:ph type="title"/>
          </p:nvPr>
        </p:nvSpPr>
        <p:spPr>
          <a:xfrm>
            <a:off x="283475" y="703625"/>
            <a:ext cx="3723000" cy="19920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RunTime, Alternatives, and Optimization</a:t>
            </a:r>
            <a:endParaRPr/>
          </a:p>
        </p:txBody>
      </p:sp>
      <p:sp>
        <p:nvSpPr>
          <p:cNvPr id="667" name="Google Shape;667;p71"/>
          <p:cNvSpPr txBox="1"/>
          <p:nvPr>
            <p:ph idx="1" type="subTitle"/>
          </p:nvPr>
        </p:nvSpPr>
        <p:spPr>
          <a:xfrm>
            <a:off x="5052850" y="782238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RunTime:</a:t>
            </a:r>
            <a:endParaRPr sz="1500"/>
          </a:p>
        </p:txBody>
      </p:sp>
      <p:sp>
        <p:nvSpPr>
          <p:cNvPr id="668" name="Google Shape;668;p71"/>
          <p:cNvSpPr txBox="1"/>
          <p:nvPr>
            <p:ph idx="2" type="subTitle"/>
          </p:nvPr>
        </p:nvSpPr>
        <p:spPr>
          <a:xfrm>
            <a:off x="5052850" y="1426013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Everything O(V+E)</a:t>
            </a:r>
            <a:endParaRPr sz="1400"/>
          </a:p>
        </p:txBody>
      </p:sp>
      <p:sp>
        <p:nvSpPr>
          <p:cNvPr id="669" name="Google Shape;669;p71"/>
          <p:cNvSpPr txBox="1"/>
          <p:nvPr>
            <p:ph idx="3" type="subTitle"/>
          </p:nvPr>
        </p:nvSpPr>
        <p:spPr>
          <a:xfrm>
            <a:off x="5052850" y="187603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Alternatives</a:t>
            </a:r>
            <a:r>
              <a:rPr lang="en"/>
              <a:t>:</a:t>
            </a:r>
            <a:endParaRPr/>
          </a:p>
        </p:txBody>
      </p:sp>
      <p:sp>
        <p:nvSpPr>
          <p:cNvPr id="670" name="Google Shape;670;p71"/>
          <p:cNvSpPr txBox="1"/>
          <p:nvPr>
            <p:ph idx="4" type="subTitle"/>
          </p:nvPr>
        </p:nvSpPr>
        <p:spPr>
          <a:xfrm>
            <a:off x="4860025" y="2620000"/>
            <a:ext cx="3663600" cy="831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Adjacency matrix = Too much memory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Dijkstra/A = not needed (unweighted)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Floyd Warshall = O(V^3), too slow</a:t>
            </a:r>
            <a:endParaRPr sz="1400"/>
          </a:p>
        </p:txBody>
      </p:sp>
      <p:sp>
        <p:nvSpPr>
          <p:cNvPr id="671" name="Google Shape;671;p71"/>
          <p:cNvSpPr txBox="1"/>
          <p:nvPr>
            <p:ph idx="5" type="subTitle"/>
          </p:nvPr>
        </p:nvSpPr>
        <p:spPr>
          <a:xfrm>
            <a:off x="5052850" y="3619648"/>
            <a:ext cx="1970400" cy="226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Optimizations:</a:t>
            </a:r>
            <a:endParaRPr sz="1500"/>
          </a:p>
        </p:txBody>
      </p:sp>
      <p:sp>
        <p:nvSpPr>
          <p:cNvPr id="672" name="Google Shape;672;p71"/>
          <p:cNvSpPr txBox="1"/>
          <p:nvPr>
            <p:ph idx="6" type="subTitle"/>
          </p:nvPr>
        </p:nvSpPr>
        <p:spPr>
          <a:xfrm>
            <a:off x="4860025" y="4111125"/>
            <a:ext cx="2596500" cy="831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Parallel BFS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BFS memoization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Graph compression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2"/>
          <p:cNvSpPr/>
          <p:nvPr/>
        </p:nvSpPr>
        <p:spPr>
          <a:xfrm>
            <a:off x="284700" y="1399150"/>
            <a:ext cx="2414100" cy="16212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8" name="Google Shape;678;p72"/>
          <p:cNvSpPr/>
          <p:nvPr/>
        </p:nvSpPr>
        <p:spPr>
          <a:xfrm>
            <a:off x="3145525" y="1399150"/>
            <a:ext cx="2414100" cy="1621200"/>
          </a:xfrm>
          <a:prstGeom prst="round1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9" name="Google Shape;679;p72"/>
          <p:cNvSpPr/>
          <p:nvPr/>
        </p:nvSpPr>
        <p:spPr>
          <a:xfrm>
            <a:off x="284700" y="3236100"/>
            <a:ext cx="2414100" cy="16212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0" name="Google Shape;680;p72"/>
          <p:cNvSpPr/>
          <p:nvPr/>
        </p:nvSpPr>
        <p:spPr>
          <a:xfrm>
            <a:off x="3145525" y="3236100"/>
            <a:ext cx="2414100" cy="1621200"/>
          </a:xfrm>
          <a:prstGeom prst="round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72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 and Conclusion</a:t>
            </a:r>
            <a:endParaRPr/>
          </a:p>
        </p:txBody>
      </p:sp>
      <p:sp>
        <p:nvSpPr>
          <p:cNvPr id="682" name="Google Shape;682;p72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millions of cities -&gt; compression/distributed graph</a:t>
            </a:r>
            <a:endParaRPr/>
          </a:p>
        </p:txBody>
      </p:sp>
      <p:sp>
        <p:nvSpPr>
          <p:cNvPr id="683" name="Google Shape;683;p72"/>
          <p:cNvSpPr txBox="1"/>
          <p:nvPr>
            <p:ph idx="31" type="title"/>
          </p:nvPr>
        </p:nvSpPr>
        <p:spPr>
          <a:xfrm>
            <a:off x="3330700" y="1570725"/>
            <a:ext cx="2229000" cy="114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map remains Efficient</a:t>
            </a:r>
            <a:endParaRPr/>
          </a:p>
        </p:txBody>
      </p:sp>
      <p:sp>
        <p:nvSpPr>
          <p:cNvPr id="684" name="Google Shape;684;p72"/>
          <p:cNvSpPr txBox="1"/>
          <p:nvPr>
            <p:ph idx="30" type="title"/>
          </p:nvPr>
        </p:nvSpPr>
        <p:spPr>
          <a:xfrm>
            <a:off x="3238075" y="3352906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conclusions</a:t>
            </a:r>
            <a:endParaRPr/>
          </a:p>
        </p:txBody>
      </p:sp>
      <p:sp>
        <p:nvSpPr>
          <p:cNvPr id="685" name="Google Shape;685;p72"/>
          <p:cNvSpPr txBox="1"/>
          <p:nvPr>
            <p:ph type="title"/>
          </p:nvPr>
        </p:nvSpPr>
        <p:spPr>
          <a:xfrm>
            <a:off x="469875" y="1570725"/>
            <a:ext cx="2229000" cy="114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list scales well</a:t>
            </a:r>
            <a:endParaRPr/>
          </a:p>
        </p:txBody>
      </p:sp>
      <p:sp>
        <p:nvSpPr>
          <p:cNvPr id="686" name="Google Shape;686;p72"/>
          <p:cNvSpPr txBox="1"/>
          <p:nvPr/>
        </p:nvSpPr>
        <p:spPr>
          <a:xfrm>
            <a:off x="3121425" y="3619650"/>
            <a:ext cx="25380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Question 4</a:t>
            </a:r>
            <a:r>
              <a:rPr b="1" lang="en" sz="1100"/>
              <a:t> is the hardest task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Because it requires multiple BFS runs, full-path reconstruction, global optimization over all nodes, and multi-source reachability comparison.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7" name="Google Shape;687;p72"/>
          <p:cNvSpPr txBox="1"/>
          <p:nvPr/>
        </p:nvSpPr>
        <p:spPr>
          <a:xfrm>
            <a:off x="5766350" y="433725"/>
            <a:ext cx="31581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Key Improvements: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Reduce repeated code with helper functions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Strengthen input validation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Fix small indexing issues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Improve output clarity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Add more organized structure with smaller functions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Improve comments and documentation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Handle edge cases more clearly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More polished formatting</a:t>
            </a: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